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3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firstSlideNum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Helvetica Neue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3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31" roundtripDataSignature="AMtx7mge4gbSaDZJw2MFs3CfJi2SNEg9A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3" name="Gonzalo Vidal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37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font" Target="fonts/HelveticaNeue-bold.fntdata"/><Relationship Id="rId27" Type="http://schemas.openxmlformats.org/officeDocument/2006/relationships/font" Target="fonts/Helvetica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HelveticaNeue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4-10-30T16:45:37.829">
    <p:pos x="6000" y="0"/>
    <p:text>follow this example for visualizations.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5dXOrI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" dt="2024-10-30T16:44:40.068">
    <p:pos x="6000" y="0"/>
    <p:text>create more visuals to explain these concepts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5dXOrE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4-10-30T16:52:26.023">
    <p:pos x="6000" y="0"/>
    <p:text>add info about model and experiment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X5dXOrQ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103e93cab7_0_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103e93cab7_0_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103e93cab7_0_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103e93cab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103e93cab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103e93cab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1190243" y="5394325"/>
            <a:ext cx="9811512" cy="566928"/>
          </a:xfrm>
          <a:prstGeom prst="rect">
            <a:avLst/>
          </a:prstGeom>
          <a:solidFill>
            <a:srgbClr val="98C255"/>
          </a:solidFill>
          <a:ln cap="flat" cmpd="sng" w="12700">
            <a:solidFill>
              <a:srgbClr val="98C25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" name="Google Shape;22;p20"/>
          <p:cNvPicPr preferRelativeResize="0"/>
          <p:nvPr/>
        </p:nvPicPr>
        <p:blipFill rotWithShape="1">
          <a:blip r:embed="rId2">
            <a:alphaModFix/>
          </a:blip>
          <a:srcRect b="19616" l="0" r="0" t="0"/>
          <a:stretch/>
        </p:blipFill>
        <p:spPr>
          <a:xfrm>
            <a:off x="4021826" y="3683699"/>
            <a:ext cx="4148347" cy="1231386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20"/>
          <p:cNvSpPr/>
          <p:nvPr/>
        </p:nvSpPr>
        <p:spPr>
          <a:xfrm>
            <a:off x="874775" y="5394325"/>
            <a:ext cx="630935" cy="566928"/>
          </a:xfrm>
          <a:prstGeom prst="ellipse">
            <a:avLst/>
          </a:prstGeom>
          <a:solidFill>
            <a:srgbClr val="98C255"/>
          </a:solidFill>
          <a:ln cap="flat" cmpd="sng" w="12700">
            <a:solidFill>
              <a:srgbClr val="98C25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20"/>
          <p:cNvSpPr/>
          <p:nvPr/>
        </p:nvSpPr>
        <p:spPr>
          <a:xfrm>
            <a:off x="10686288" y="5394325"/>
            <a:ext cx="630935" cy="566928"/>
          </a:xfrm>
          <a:prstGeom prst="ellipse">
            <a:avLst/>
          </a:prstGeom>
          <a:solidFill>
            <a:srgbClr val="98C255"/>
          </a:solidFill>
          <a:ln cap="flat" cmpd="sng" w="12700">
            <a:solidFill>
              <a:srgbClr val="98C25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grpSp>
        <p:nvGrpSpPr>
          <p:cNvPr id="30" name="Google Shape;30;p21"/>
          <p:cNvGrpSpPr/>
          <p:nvPr/>
        </p:nvGrpSpPr>
        <p:grpSpPr>
          <a:xfrm>
            <a:off x="8610600" y="6420318"/>
            <a:ext cx="3581400" cy="258191"/>
            <a:chOff x="2116695" y="6073434"/>
            <a:chExt cx="4539680" cy="157377"/>
          </a:xfrm>
        </p:grpSpPr>
        <p:sp>
          <p:nvSpPr>
            <p:cNvPr id="31" name="Google Shape;31;p21"/>
            <p:cNvSpPr/>
            <p:nvPr/>
          </p:nvSpPr>
          <p:spPr>
            <a:xfrm>
              <a:off x="2244552" y="6073441"/>
              <a:ext cx="4411823" cy="157370"/>
            </a:xfrm>
            <a:prstGeom prst="rect">
              <a:avLst/>
            </a:prstGeom>
            <a:solidFill>
              <a:srgbClr val="98C255"/>
            </a:solidFill>
            <a:ln cap="flat" cmpd="sng" w="12700">
              <a:solidFill>
                <a:srgbClr val="98C25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32;p21"/>
            <p:cNvSpPr/>
            <p:nvPr/>
          </p:nvSpPr>
          <p:spPr>
            <a:xfrm>
              <a:off x="2116695" y="6073434"/>
              <a:ext cx="255712" cy="157370"/>
            </a:xfrm>
            <a:prstGeom prst="ellipse">
              <a:avLst/>
            </a:prstGeom>
            <a:solidFill>
              <a:srgbClr val="98C255"/>
            </a:solidFill>
            <a:ln cap="flat" cmpd="sng" w="12700">
              <a:solidFill>
                <a:srgbClr val="98C255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green and black logo&#10;&#10;Description automatically generated" id="33" name="Google Shape;33;p2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823584" y="6219592"/>
            <a:ext cx="659631" cy="659631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1" name="Google Shape;51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3" name="Google Shape;53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9" name="Google Shape;69;p27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8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28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7" name="Google Shape;77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0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9" name="Google Shape;8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9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Relationship Id="rId4" Type="http://schemas.openxmlformats.org/officeDocument/2006/relationships/image" Target="../media/image5.png"/><Relationship Id="rId5" Type="http://schemas.openxmlformats.org/officeDocument/2006/relationships/image" Target="../media/image1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3.xml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1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7.png"/><Relationship Id="rId4" Type="http://schemas.openxmlformats.org/officeDocument/2006/relationships/image" Target="../media/image23.png"/><Relationship Id="rId11" Type="http://schemas.openxmlformats.org/officeDocument/2006/relationships/image" Target="../media/image27.png"/><Relationship Id="rId10" Type="http://schemas.openxmlformats.org/officeDocument/2006/relationships/image" Target="../media/image20.jpg"/><Relationship Id="rId12" Type="http://schemas.openxmlformats.org/officeDocument/2006/relationships/image" Target="../media/image19.png"/><Relationship Id="rId9" Type="http://schemas.openxmlformats.org/officeDocument/2006/relationships/image" Target="../media/image29.jpg"/><Relationship Id="rId5" Type="http://schemas.openxmlformats.org/officeDocument/2006/relationships/image" Target="../media/image25.png"/><Relationship Id="rId6" Type="http://schemas.openxmlformats.org/officeDocument/2006/relationships/image" Target="../media/image24.png"/><Relationship Id="rId7" Type="http://schemas.openxmlformats.org/officeDocument/2006/relationships/image" Target="../media/image21.png"/><Relationship Id="rId8" Type="http://schemas.openxmlformats.org/officeDocument/2006/relationships/image" Target="../media/image3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"/>
          <p:cNvSpPr txBox="1"/>
          <p:nvPr>
            <p:ph type="ctrTitle"/>
          </p:nvPr>
        </p:nvSpPr>
        <p:spPr>
          <a:xfrm>
            <a:off x="1109472" y="524955"/>
            <a:ext cx="9973056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b="1" lang="en-CL" sz="6000"/>
              <a:t>Synthetic Biology Open Language: </a:t>
            </a:r>
            <a:br>
              <a:rPr b="1" lang="en-CL" sz="6000"/>
            </a:br>
            <a:r>
              <a:rPr b="1" lang="en-CL" sz="6000"/>
              <a:t>Data Model version 3</a:t>
            </a:r>
            <a:endParaRPr/>
          </a:p>
        </p:txBody>
      </p:sp>
      <p:sp>
        <p:nvSpPr>
          <p:cNvPr id="97" name="Google Shape;97;p1"/>
          <p:cNvSpPr txBox="1"/>
          <p:nvPr>
            <p:ph idx="1" type="subTitle"/>
          </p:nvPr>
        </p:nvSpPr>
        <p:spPr>
          <a:xfrm>
            <a:off x="1228436" y="5505164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</a:pPr>
            <a:r>
              <a:rPr lang="en-CL">
                <a:solidFill>
                  <a:schemeClr val="lt1"/>
                </a:solidFill>
              </a:rPr>
              <a:t>Presenter: Gonzalo Vidal</a:t>
            </a:r>
            <a:endParaRPr/>
          </a:p>
        </p:txBody>
      </p:sp>
      <p:sp>
        <p:nvSpPr>
          <p:cNvPr id="98" name="Google Shape;98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pic>
        <p:nvPicPr>
          <p:cNvPr descr="A close up of a logo&#10;&#10;Description automatically generated" id="99" name="Google Shape;99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91235" y="0"/>
            <a:ext cx="3002656" cy="15182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Agenda</a:t>
            </a:r>
            <a:endParaRPr/>
          </a:p>
        </p:txBody>
      </p:sp>
      <p:sp>
        <p:nvSpPr>
          <p:cNvPr id="105" name="Google Shape;105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14350" lvl="0" marL="5143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Introduction to SBOL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Hands on creation of a transcriptional unit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Demonstration</a:t>
            </a: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 of SBOL for assembly planning</a:t>
            </a:r>
            <a:endParaRPr/>
          </a:p>
          <a:p>
            <a:pPr indent="-514350" lvl="0" marL="514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AutoNum type="arabicPeriod"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Demonstration</a:t>
            </a: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 of SBOL for simulations</a:t>
            </a:r>
            <a:endParaRPr/>
          </a:p>
        </p:txBody>
      </p:sp>
      <p:sp>
        <p:nvSpPr>
          <p:cNvPr id="106" name="Google Shape;106;p2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"/>
          <p:cNvSpPr txBox="1"/>
          <p:nvPr>
            <p:ph type="title"/>
          </p:nvPr>
        </p:nvSpPr>
        <p:spPr>
          <a:xfrm>
            <a:off x="7167081" y="292849"/>
            <a:ext cx="4111752" cy="20488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SBOL development</a:t>
            </a:r>
            <a:endParaRPr/>
          </a:p>
        </p:txBody>
      </p:sp>
      <p:sp>
        <p:nvSpPr>
          <p:cNvPr id="112" name="Google Shape;112;p3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pic>
        <p:nvPicPr>
          <p:cNvPr descr="A diagram of a process&#10;&#10;Description automatically generated" id="113" name="Google Shape;113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292849"/>
            <a:ext cx="6347870" cy="6199277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3"/>
          <p:cNvSpPr txBox="1"/>
          <p:nvPr>
            <p:ph idx="1" type="body"/>
          </p:nvPr>
        </p:nvSpPr>
        <p:spPr>
          <a:xfrm>
            <a:off x="7167081" y="2823763"/>
            <a:ext cx="4294632" cy="3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CL" sz="2500">
                <a:latin typeface="Helvetica Neue"/>
                <a:ea typeface="Helvetica Neue"/>
                <a:cs typeface="Helvetica Neue"/>
                <a:sym typeface="Helvetica Neue"/>
              </a:rPr>
              <a:t>Fasta: </a:t>
            </a:r>
            <a:r>
              <a:rPr lang="en-CL" sz="2500">
                <a:latin typeface="Helvetica Neue"/>
                <a:ea typeface="Helvetica Neue"/>
                <a:cs typeface="Helvetica Neue"/>
                <a:sym typeface="Helvetica Neue"/>
              </a:rPr>
              <a:t>Structural information.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CL" sz="2500">
                <a:latin typeface="Helvetica Neue"/>
                <a:ea typeface="Helvetica Neue"/>
                <a:cs typeface="Helvetica Neue"/>
                <a:sym typeface="Helvetica Neue"/>
              </a:rPr>
              <a:t>GenBank: </a:t>
            </a:r>
            <a:r>
              <a:rPr lang="en-CL" sz="2500">
                <a:latin typeface="Helvetica Neue"/>
                <a:ea typeface="Helvetica Neue"/>
                <a:cs typeface="Helvetica Neue"/>
                <a:sym typeface="Helvetica Neue"/>
              </a:rPr>
              <a:t>Structural and functional information.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</a:pPr>
            <a:r>
              <a:rPr b="1" lang="en-CL" sz="2500">
                <a:latin typeface="Helvetica Neue"/>
                <a:ea typeface="Helvetica Neue"/>
                <a:cs typeface="Helvetica Neue"/>
                <a:sym typeface="Helvetica Neue"/>
              </a:rPr>
              <a:t>SBOL: </a:t>
            </a:r>
            <a:r>
              <a:rPr lang="en-CL" sz="2500">
                <a:latin typeface="Helvetica Neue"/>
                <a:ea typeface="Helvetica Neue"/>
                <a:cs typeface="Helvetica Neue"/>
                <a:sym typeface="Helvetica Neue"/>
              </a:rPr>
              <a:t>Standardized structural and functional information.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SBOL data model version 3</a:t>
            </a:r>
            <a:endParaRPr/>
          </a:p>
        </p:txBody>
      </p:sp>
      <p:sp>
        <p:nvSpPr>
          <p:cNvPr id="120" name="Google Shape;120;p4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pic>
        <p:nvPicPr>
          <p:cNvPr id="121" name="Google Shape;12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9505" y="2232050"/>
            <a:ext cx="4985500" cy="33383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69955" y="2098617"/>
            <a:ext cx="5988422" cy="323246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4"/>
          <p:cNvSpPr txBox="1"/>
          <p:nvPr/>
        </p:nvSpPr>
        <p:spPr>
          <a:xfrm>
            <a:off x="1818269" y="1776703"/>
            <a:ext cx="238797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CL" sz="1800" u="none" cap="none" strike="noStrik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Core Design Classes</a:t>
            </a:r>
            <a:endParaRPr/>
          </a:p>
        </p:txBody>
      </p:sp>
      <p:sp>
        <p:nvSpPr>
          <p:cNvPr id="124" name="Google Shape;124;p4"/>
          <p:cNvSpPr txBox="1"/>
          <p:nvPr/>
        </p:nvSpPr>
        <p:spPr>
          <a:xfrm>
            <a:off x="7598386" y="1776703"/>
            <a:ext cx="250878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L" sz="18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Complete Data Model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5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130" name="Google Shape;1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pic>
        <p:nvPicPr>
          <p:cNvPr descr="A diagram of a diagram of a component&#10;&#10;Description automatically generated" id="131" name="Google Shape;131;p5"/>
          <p:cNvPicPr preferRelativeResize="0"/>
          <p:nvPr/>
        </p:nvPicPr>
        <p:blipFill rotWithShape="1">
          <a:blip r:embed="rId3">
            <a:alphaModFix/>
          </a:blip>
          <a:srcRect b="0" l="0" r="0" t="60445"/>
          <a:stretch/>
        </p:blipFill>
        <p:spPr>
          <a:xfrm>
            <a:off x="1507860" y="1557444"/>
            <a:ext cx="9176280" cy="458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838200" y="365125"/>
            <a:ext cx="4440936" cy="223177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SBOL captures DBTL stages metadata</a:t>
            </a:r>
            <a:endParaRPr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1118616" y="2736363"/>
            <a:ext cx="2855976" cy="31777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L"/>
              <a:t>Interface between stages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L"/>
              <a:t>Modular DBTL workflows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CL"/>
              <a:t>Collaboration in distributed DBTL workflows</a:t>
            </a:r>
            <a:endParaRPr/>
          </a:p>
        </p:txBody>
      </p:sp>
      <p:sp>
        <p:nvSpPr>
          <p:cNvPr id="138" name="Google Shape;138;p6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pic>
        <p:nvPicPr>
          <p:cNvPr descr="A diagram of a software development&#10;&#10;Description automatically generated" id="139" name="Google Shape;13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69182" y="225658"/>
            <a:ext cx="7257288" cy="580583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Component: the root of every design</a:t>
            </a:r>
            <a:endParaRPr/>
          </a:p>
        </p:txBody>
      </p:sp>
      <p:sp>
        <p:nvSpPr>
          <p:cNvPr id="145" name="Google Shape;145;p7"/>
          <p:cNvSpPr txBox="1"/>
          <p:nvPr>
            <p:ph idx="1" type="body"/>
          </p:nvPr>
        </p:nvSpPr>
        <p:spPr>
          <a:xfrm>
            <a:off x="244055" y="5559614"/>
            <a:ext cx="5992358" cy="8544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CL" sz="2800"/>
              <a:t>A component can be DNA, RNA, protein, a small molecule, a strain of cells, a media recipe, an experimental sample design, …</a:t>
            </a:r>
            <a:endParaRPr/>
          </a:p>
          <a:p>
            <a:pPr indent="-90804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46" name="Google Shape;146;p7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>
                <a:solidFill>
                  <a:schemeClr val="lt1"/>
                </a:solidFill>
              </a:rPr>
              <a:t>‹#›</a:t>
            </a:fld>
            <a:endParaRPr>
              <a:solidFill>
                <a:schemeClr val="lt1"/>
              </a:solidFill>
            </a:endParaRPr>
          </a:p>
        </p:txBody>
      </p:sp>
      <p:pic>
        <p:nvPicPr>
          <p:cNvPr id="147" name="Google Shape;147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15885" y="1219616"/>
            <a:ext cx="9837331" cy="4339999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7"/>
          <p:cNvSpPr txBox="1"/>
          <p:nvPr/>
        </p:nvSpPr>
        <p:spPr>
          <a:xfrm>
            <a:off x="9042984" y="1704637"/>
            <a:ext cx="231081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Pointers to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numerical models</a:t>
            </a:r>
            <a:endParaRPr/>
          </a:p>
        </p:txBody>
      </p:sp>
      <p:sp>
        <p:nvSpPr>
          <p:cNvPr id="149" name="Google Shape;149;p7"/>
          <p:cNvSpPr txBox="1"/>
          <p:nvPr/>
        </p:nvSpPr>
        <p:spPr>
          <a:xfrm>
            <a:off x="3040824" y="4761190"/>
            <a:ext cx="16324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Functional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interactions</a:t>
            </a:r>
            <a:endParaRPr/>
          </a:p>
        </p:txBody>
      </p:sp>
      <p:sp>
        <p:nvSpPr>
          <p:cNvPr id="150" name="Google Shape;150;p7"/>
          <p:cNvSpPr txBox="1"/>
          <p:nvPr/>
        </p:nvSpPr>
        <p:spPr>
          <a:xfrm>
            <a:off x="838200" y="1471809"/>
            <a:ext cx="2859728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Nucleic acid sequence,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Amino acid sequence,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SMILES, etc…</a:t>
            </a:r>
            <a:endParaRPr/>
          </a:p>
        </p:txBody>
      </p:sp>
      <p:sp>
        <p:nvSpPr>
          <p:cNvPr id="151" name="Google Shape;151;p7"/>
          <p:cNvSpPr txBox="1"/>
          <p:nvPr/>
        </p:nvSpPr>
        <p:spPr>
          <a:xfrm>
            <a:off x="838200" y="3629979"/>
            <a:ext cx="1847088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Parts/ SubComponents</a:t>
            </a:r>
            <a:endParaRPr i="1" sz="1600">
              <a:solidFill>
                <a:srgbClr val="98C25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2" name="Google Shape;152;p7"/>
          <p:cNvSpPr txBox="1"/>
          <p:nvPr/>
        </p:nvSpPr>
        <p:spPr>
          <a:xfrm>
            <a:off x="7518776" y="4761190"/>
            <a:ext cx="1632402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Topology &amp; identity</a:t>
            </a:r>
            <a:endParaRPr/>
          </a:p>
        </p:txBody>
      </p:sp>
      <p:sp>
        <p:nvSpPr>
          <p:cNvPr id="153" name="Google Shape;153;p7"/>
          <p:cNvSpPr txBox="1"/>
          <p:nvPr/>
        </p:nvSpPr>
        <p:spPr>
          <a:xfrm>
            <a:off x="9982200" y="3824663"/>
            <a:ext cx="16324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Abstractions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Example: GFP expression cassette</a:t>
            </a:r>
            <a:endParaRPr/>
          </a:p>
        </p:txBody>
      </p:sp>
      <p:sp>
        <p:nvSpPr>
          <p:cNvPr id="159" name="Google Shape;159;p8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pic>
        <p:nvPicPr>
          <p:cNvPr descr="A close-up of a card&#10;&#10;Description automatically generated" id="160" name="Google Shape;160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3901" y="1957816"/>
            <a:ext cx="4938546" cy="3364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9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166" name="Google Shape;166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Helvetica Neue"/>
              <a:buNone/>
            </a:pPr>
            <a:r>
              <a:rPr lang="en-CL" sz="4000">
                <a:latin typeface="Helvetica Neue"/>
                <a:ea typeface="Helvetica Neue"/>
                <a:cs typeface="Helvetica Neue"/>
                <a:sym typeface="Helvetica Neue"/>
              </a:rPr>
              <a:t>Features: Structural aspects of a component</a:t>
            </a:r>
            <a:endParaRPr sz="4000"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167" name="Google Shape;16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3506" y="1775189"/>
            <a:ext cx="10680294" cy="4272117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9"/>
          <p:cNvSpPr txBox="1"/>
          <p:nvPr/>
        </p:nvSpPr>
        <p:spPr>
          <a:xfrm>
            <a:off x="1941814" y="3429000"/>
            <a:ext cx="1550424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Reusable parts</a:t>
            </a:r>
            <a:endParaRPr/>
          </a:p>
        </p:txBody>
      </p:sp>
      <p:sp>
        <p:nvSpPr>
          <p:cNvPr id="169" name="Google Shape;169;p9"/>
          <p:cNvSpPr txBox="1"/>
          <p:nvPr/>
        </p:nvSpPr>
        <p:spPr>
          <a:xfrm>
            <a:off x="4771758" y="4809133"/>
            <a:ext cx="164660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In-context parts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&amp; placeholders</a:t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9680831" y="4182108"/>
            <a:ext cx="211307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Local annotations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(e.g., cut sites, scars)</a:t>
            </a:r>
            <a:endParaRPr/>
          </a:p>
        </p:txBody>
      </p:sp>
      <p:sp>
        <p:nvSpPr>
          <p:cNvPr id="171" name="Google Shape;171;p9"/>
          <p:cNvSpPr txBox="1"/>
          <p:nvPr/>
        </p:nvSpPr>
        <p:spPr>
          <a:xfrm>
            <a:off x="7479586" y="3226589"/>
            <a:ext cx="22012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Pointers to non-SBOL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(e.g., ChEBI, UniProt)</a:t>
            </a:r>
            <a:endParaRPr/>
          </a:p>
        </p:txBody>
      </p:sp>
      <p:sp>
        <p:nvSpPr>
          <p:cNvPr id="172" name="Google Shape;172;p9"/>
          <p:cNvSpPr txBox="1"/>
          <p:nvPr/>
        </p:nvSpPr>
        <p:spPr>
          <a:xfrm>
            <a:off x="5309112" y="4139857"/>
            <a:ext cx="173316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Pointers inside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SubComponents</a:t>
            </a:r>
            <a:endParaRPr i="1" sz="1600">
              <a:solidFill>
                <a:srgbClr val="98C255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178" name="Google Shape;178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Example: expression cassette parts</a:t>
            </a:r>
            <a:endParaRPr/>
          </a:p>
        </p:txBody>
      </p:sp>
      <p:pic>
        <p:nvPicPr>
          <p:cNvPr descr="A diagram of a component&#10;&#10;Description automatically generated" id="179" name="Google Shape;179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95331" y="1690688"/>
            <a:ext cx="7772400" cy="3800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185" name="Google Shape;18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Sequences &amp; Locations</a:t>
            </a:r>
            <a:endParaRPr/>
          </a:p>
        </p:txBody>
      </p:sp>
      <p:pic>
        <p:nvPicPr>
          <p:cNvPr id="186" name="Google Shape;1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343" y="2628446"/>
            <a:ext cx="2772435" cy="214233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0734" y="1925609"/>
            <a:ext cx="7324923" cy="354801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 txBox="1"/>
          <p:nvPr/>
        </p:nvSpPr>
        <p:spPr>
          <a:xfrm>
            <a:off x="1072493" y="4530077"/>
            <a:ext cx="229107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IUPAC NA, IUPAC AA,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SMILES, InChI, …</a:t>
            </a:r>
            <a:endParaRPr/>
          </a:p>
        </p:txBody>
      </p:sp>
      <p:sp>
        <p:nvSpPr>
          <p:cNvPr id="189" name="Google Shape;189;p11"/>
          <p:cNvSpPr txBox="1"/>
          <p:nvPr/>
        </p:nvSpPr>
        <p:spPr>
          <a:xfrm>
            <a:off x="3467204" y="3033352"/>
            <a:ext cx="3163623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Forward or reverse complement</a:t>
            </a:r>
            <a:endParaRPr/>
          </a:p>
        </p:txBody>
      </p:sp>
      <p:sp>
        <p:nvSpPr>
          <p:cNvPr id="190" name="Google Shape;190;p11"/>
          <p:cNvSpPr txBox="1"/>
          <p:nvPr/>
        </p:nvSpPr>
        <p:spPr>
          <a:xfrm>
            <a:off x="4260970" y="3336584"/>
            <a:ext cx="227126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introns, insertions, 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origin-crossing</a:t>
            </a:r>
            <a:endParaRPr/>
          </a:p>
        </p:txBody>
      </p:sp>
      <p:sp>
        <p:nvSpPr>
          <p:cNvPr id="191" name="Google Shape;191;p11"/>
          <p:cNvSpPr txBox="1"/>
          <p:nvPr/>
        </p:nvSpPr>
        <p:spPr>
          <a:xfrm>
            <a:off x="8430807" y="4796834"/>
            <a:ext cx="243528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When just connecting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Component &amp; Sequence</a:t>
            </a:r>
            <a:endParaRPr/>
          </a:p>
        </p:txBody>
      </p:sp>
      <p:sp>
        <p:nvSpPr>
          <p:cNvPr id="192" name="Google Shape;192;p11"/>
          <p:cNvSpPr txBox="1"/>
          <p:nvPr/>
        </p:nvSpPr>
        <p:spPr>
          <a:xfrm>
            <a:off x="6513807" y="5053900"/>
            <a:ext cx="2029210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Between bases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(e.g., restriction site)</a:t>
            </a:r>
            <a:endParaRPr/>
          </a:p>
        </p:txBody>
      </p:sp>
      <p:sp>
        <p:nvSpPr>
          <p:cNvPr id="193" name="Google Shape;193;p11"/>
          <p:cNvSpPr txBox="1"/>
          <p:nvPr/>
        </p:nvSpPr>
        <p:spPr>
          <a:xfrm>
            <a:off x="4124751" y="5289598"/>
            <a:ext cx="232307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 or more bases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(e.g., coding sequence)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2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pic>
        <p:nvPicPr>
          <p:cNvPr descr="A diagram of a component&#10;&#10;Description automatically generated" id="199" name="Google Shape;19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2586" y="1507075"/>
            <a:ext cx="9682537" cy="4620744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Example: Location of a SubComponent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3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06" name="Google Shape;206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Functional information: </a:t>
            </a:r>
            <a:br>
              <a:rPr lang="en-CL"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Interaction &amp; Participation</a:t>
            </a:r>
            <a:endParaRPr/>
          </a:p>
        </p:txBody>
      </p:sp>
      <p:pic>
        <p:nvPicPr>
          <p:cNvPr id="207" name="Google Shape;207;p13"/>
          <p:cNvPicPr preferRelativeResize="0"/>
          <p:nvPr/>
        </p:nvPicPr>
        <p:blipFill rotWithShape="1">
          <a:blip r:embed="rId3">
            <a:alphaModFix/>
          </a:blip>
          <a:srcRect b="0" l="0" r="31925" t="0"/>
          <a:stretch/>
        </p:blipFill>
        <p:spPr>
          <a:xfrm>
            <a:off x="1197263" y="2447687"/>
            <a:ext cx="4750955" cy="27598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5243" y="2546392"/>
            <a:ext cx="5678557" cy="2600182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3"/>
          <p:cNvSpPr txBox="1"/>
          <p:nvPr/>
        </p:nvSpPr>
        <p:spPr>
          <a:xfrm>
            <a:off x="2302462" y="4690570"/>
            <a:ext cx="244009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e.g., genetic production,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biochemical reaction,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Inhibition, stimulation, …</a:t>
            </a:r>
            <a:endParaRPr/>
          </a:p>
        </p:txBody>
      </p:sp>
      <p:sp>
        <p:nvSpPr>
          <p:cNvPr id="210" name="Google Shape;210;p13"/>
          <p:cNvSpPr txBox="1"/>
          <p:nvPr/>
        </p:nvSpPr>
        <p:spPr>
          <a:xfrm>
            <a:off x="5876219" y="4737894"/>
            <a:ext cx="1956754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Template, product,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reactant, inhibitor,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CL" sz="1600">
                <a:solidFill>
                  <a:srgbClr val="98C255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inhibited, …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16" name="Google Shape;21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Example: GFP production from expression cassette</a:t>
            </a:r>
            <a:endParaRPr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A diagram of a process&#10;&#10;Description automatically generated" id="217" name="Google Shape;2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51113" y="1792228"/>
            <a:ext cx="9084366" cy="44625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Wetlab example</a:t>
            </a:r>
            <a:endParaRPr/>
          </a:p>
        </p:txBody>
      </p:sp>
      <p:pic>
        <p:nvPicPr>
          <p:cNvPr descr="A diagram of a process&#10;&#10;Description automatically generated" id="223" name="Google Shape;223;p15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10784" y="136525"/>
            <a:ext cx="6364005" cy="5877866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5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Drylab example</a:t>
            </a:r>
            <a:endParaRPr/>
          </a:p>
        </p:txBody>
      </p:sp>
      <p:sp>
        <p:nvSpPr>
          <p:cNvPr id="230" name="Google Shape;230;p16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pic>
        <p:nvPicPr>
          <p:cNvPr descr="Diagram&#10;&#10;Description automatically generated" id="231" name="Google Shape;231;p16"/>
          <p:cNvPicPr preferRelativeResize="0"/>
          <p:nvPr/>
        </p:nvPicPr>
        <p:blipFill rotWithShape="1">
          <a:blip r:embed="rId3">
            <a:alphaModFix/>
          </a:blip>
          <a:srcRect b="0" l="41933" r="0" t="58167"/>
          <a:stretch/>
        </p:blipFill>
        <p:spPr>
          <a:xfrm>
            <a:off x="475488" y="536448"/>
            <a:ext cx="5767028" cy="535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art, histogram&#10;&#10;Description automatically generated" id="232" name="Google Shape;23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8683" y="1365504"/>
            <a:ext cx="4769907" cy="4590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103e93cab7_0_7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103e93cab7_0_7"/>
          <p:cNvSpPr txBox="1"/>
          <p:nvPr>
            <p:ph idx="12" type="sldNum"/>
          </p:nvPr>
        </p:nvSpPr>
        <p:spPr>
          <a:xfrm>
            <a:off x="8610600" y="6356350"/>
            <a:ext cx="231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40" name="Google Shape;240;g3103e93cab7_0_7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L"/>
              <a:t>SBH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103e93cab7_0_0"/>
          <p:cNvSpPr txBox="1"/>
          <p:nvPr>
            <p:ph idx="1" type="body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CL"/>
              <a:t>Links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L"/>
              <a:t>github org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L"/>
              <a:t>webpage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L"/>
              <a:t>sbol-utilities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CL"/>
              <a:t>pySBOL3-2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CL"/>
              <a:t>Slack channel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CL"/>
              <a:t>emails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g3103e93cab7_0_0"/>
          <p:cNvSpPr txBox="1"/>
          <p:nvPr>
            <p:ph idx="12" type="sldNum"/>
          </p:nvPr>
        </p:nvSpPr>
        <p:spPr>
          <a:xfrm>
            <a:off x="8610600" y="6356350"/>
            <a:ext cx="2310900" cy="3651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48" name="Google Shape;248;g3103e93cab7_0_0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CL"/>
              <a:t>Resources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Acknowledgements</a:t>
            </a:r>
            <a:endParaRPr/>
          </a:p>
        </p:txBody>
      </p:sp>
      <p:sp>
        <p:nvSpPr>
          <p:cNvPr id="254" name="Google Shape;254;p17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pic>
        <p:nvPicPr>
          <p:cNvPr id="255" name="Google Shape;25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0104" y="720666"/>
            <a:ext cx="5891451" cy="198633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17"/>
          <p:cNvPicPr preferRelativeResize="0"/>
          <p:nvPr/>
        </p:nvPicPr>
        <p:blipFill rotWithShape="1">
          <a:blip r:embed="rId4">
            <a:alphaModFix/>
          </a:blip>
          <a:srcRect b="28364" l="0" r="0" t="31722"/>
          <a:stretch/>
        </p:blipFill>
        <p:spPr>
          <a:xfrm>
            <a:off x="851474" y="5119239"/>
            <a:ext cx="1651182" cy="65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45472" y="3627960"/>
            <a:ext cx="1355576" cy="602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931618" y="3614711"/>
            <a:ext cx="2348085" cy="6565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44505" y="3543214"/>
            <a:ext cx="2348085" cy="724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3512020" y="5178992"/>
            <a:ext cx="2348084" cy="70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166817" y="3452640"/>
            <a:ext cx="1940153" cy="8710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94510" y="5069366"/>
            <a:ext cx="1929509" cy="758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9214361" y="5448764"/>
            <a:ext cx="2643695" cy="545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enetic Logic Lab" id="264" name="Google Shape;26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2577168" y="1612446"/>
            <a:ext cx="1630843" cy="16308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CL"/>
              <a:t>Creating a transcriptional unit that expresses GFP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CL"/>
              <a:t>Code:</a:t>
            </a:r>
            <a:endParaRPr/>
          </a:p>
        </p:txBody>
      </p:sp>
      <p:sp>
        <p:nvSpPr>
          <p:cNvPr id="270" name="Google Shape;270;p18"/>
          <p:cNvSpPr txBox="1"/>
          <p:nvPr>
            <p:ph idx="12" type="sldNum"/>
          </p:nvPr>
        </p:nvSpPr>
        <p:spPr>
          <a:xfrm>
            <a:off x="8610600" y="6356350"/>
            <a:ext cx="2310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L"/>
              <a:t>‹#›</a:t>
            </a:fld>
            <a:endParaRPr/>
          </a:p>
        </p:txBody>
      </p:sp>
      <p:sp>
        <p:nvSpPr>
          <p:cNvPr id="271" name="Google Shape;271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Helvetica Neue"/>
              <a:buNone/>
            </a:pPr>
            <a:r>
              <a:rPr lang="en-CL">
                <a:latin typeface="Helvetica Neue"/>
                <a:ea typeface="Helvetica Neue"/>
                <a:cs typeface="Helvetica Neue"/>
                <a:sym typeface="Helvetica Neue"/>
              </a:rPr>
              <a:t>Hands on exercise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 first slide">
  <a:themeElements>
    <a:clrScheme name="CU Boulder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2024-10-29T18:19:58Z</dcterms:created>
  <dc:creator>Gonzalo Vidal Pena (PGR)</dc:creator>
</cp:coreProperties>
</file>